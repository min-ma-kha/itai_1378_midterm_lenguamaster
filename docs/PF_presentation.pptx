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1828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347472"/>
          </a:xfrm>
          <a:prstGeom prst="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ITAI 1378 · Computer Vision &amp;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LenguaMaster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 Translation &amp; Edge AI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International Travelers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474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Author: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Min Ma Kha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ITAI 1378 — Computer Vision and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2026-05-04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480560"/>
            <a:ext cx="1554480" cy="384048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480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93392" y="4480560"/>
            <a:ext cx="1554480" cy="384048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993392" y="4480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OCR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12464" y="4480560"/>
            <a:ext cx="1554480" cy="384048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712464" y="4480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31536" y="4480560"/>
            <a:ext cx="1554480" cy="384048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31536" y="4480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50608" y="4480560"/>
            <a:ext cx="1554480" cy="384048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150608" y="4480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Auto-Detect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</a:rPr>
              <a:t>1.5B+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International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tourists yearly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651760" cy="7315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3F5E"/>
                </a:solidFill>
              </a:rPr>
              <a:t>7,000+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17190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Languages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worldwide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17190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Internet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many destinations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The Challenge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718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</a:rPr>
              <a:t>📵  Existing apps require internet — useless offline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7180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9718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</a:rPr>
              <a:t>🌐  Most tools support only 10-20 languages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947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794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</a:rPr>
              <a:t>⚡  Cloud-based solutions: 2-5 second latency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37947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7947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794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</a:rPr>
              <a:t>📸  No unified detect → OCR → translate pipeline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LenguaMaster: Offline-capable, multi-modal visual translation — &lt; 200ms end-to-end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Six-stage end-to-end pipeline — fully offline capable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" y="1234440"/>
            <a:ext cx="1325880" cy="1645920"/>
          </a:xfrm>
          <a:prstGeom prst="rect">
            <a:avLst/>
          </a:prstGeom>
          <a:solidFill>
            <a:srgbClr val="64748B">
              <a:alpha val="4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INPUT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" y="1709928"/>
            <a:ext cx="1170432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17830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Photo / Video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Frame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1234440"/>
            <a:ext cx="132588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18488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DETECT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91640" y="1709928"/>
            <a:ext cx="1170432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618488" y="17830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YOLOv8-nano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ONNX INT-8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44368" y="1828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99816" y="1234440"/>
            <a:ext cx="1325880" cy="1645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99816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ROUTE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1709928"/>
            <a:ext cx="1170432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099816" y="17830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MobileNetV3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Print vs HTR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25696" y="1828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81144" y="1234440"/>
            <a:ext cx="1325880" cy="1645920"/>
          </a:xfrm>
          <a:prstGeom prst="rect">
            <a:avLst/>
          </a:prstGeom>
          <a:solidFill>
            <a:srgbClr val="F43F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81144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OCR/HTR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54296" y="1709928"/>
            <a:ext cx="1170432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17830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CRNN-CTC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or CRNN-Attn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07024" y="1828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1234440"/>
            <a:ext cx="1325880" cy="164592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62472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5. AUTO-DETECT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35624" y="1709928"/>
            <a:ext cx="1170432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62472" y="17830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langdetect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Language ID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88352" y="18288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43800" y="1234440"/>
            <a:ext cx="132588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43800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6. TRANSLATE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16952" y="1709928"/>
            <a:ext cx="1170432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7830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M2M100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English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3063240"/>
            <a:ext cx="868680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OUTPUT: English translation overlaid on original image — auto-detected from 6 languages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Key Design Decisions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No internet required — all models ONNX / CTranslate2 / M2M100 exported for offline use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M2M100 (facebook/m2m100_418M) — single model, 100 languages, MIT license, 418MB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langdetect auto-identifies Spanish, French, German, Portuguese, Chinese, Japanese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Step 6 — Auto-Detect &amp; Translate (M2M100)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1298448" cy="8686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4124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Image/Video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81328" y="1097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64208" y="841248"/>
            <a:ext cx="1298448" cy="8686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64208" y="84124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EasyOCR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 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62656" y="1097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45536" y="841248"/>
            <a:ext cx="1298448" cy="8686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45536" y="84124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langdetect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Auto-ID Lang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3984" y="1097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26864" y="841248"/>
            <a:ext cx="1298448" cy="868680"/>
          </a:xfrm>
          <a:prstGeom prst="rect">
            <a:avLst/>
          </a:prstGeom>
          <a:solidFill>
            <a:srgbClr val="F43F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84124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 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OCR Scripts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25312" y="1097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08192" y="841248"/>
            <a:ext cx="1298448" cy="8686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84124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M2M100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Translate → 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097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0" y="841248"/>
            <a:ext cx="1298448" cy="8686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841248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1920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Supported Languages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1298448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624" y="2404872"/>
            <a:ext cx="1005840" cy="457200"/>
          </a:xfrm>
          <a:prstGeom prst="rect">
            <a:avLst>
              <a:gd name="adj" fmla="val 8000"/>
            </a:avLst>
          </a:prstGeom>
          <a:solidFill>
            <a:srgbClr val="C60B1E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74320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Spanish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1546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Spain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19072" y="2331720"/>
            <a:ext cx="1298448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65376" y="2404872"/>
            <a:ext cx="1005840" cy="457200"/>
          </a:xfrm>
          <a:prstGeom prst="rect">
            <a:avLst>
              <a:gd name="adj" fmla="val 8000"/>
            </a:avLst>
          </a:prstGeom>
          <a:solidFill>
            <a:srgbClr val="002395"/>
          </a:solidFill>
          <a:ln/>
        </p:spPr>
      </p:sp>
      <p:sp>
        <p:nvSpPr>
          <p:cNvPr id="29" name="Text 27"/>
          <p:cNvSpPr/>
          <p:nvPr/>
        </p:nvSpPr>
        <p:spPr>
          <a:xfrm>
            <a:off x="1865376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19072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French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19072" y="31546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France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63824" y="2331720"/>
            <a:ext cx="1298448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0128" y="2404872"/>
            <a:ext cx="1005840" cy="457200"/>
          </a:xfrm>
          <a:prstGeom prst="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3310128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163824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German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63824" y="31546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Germany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08576" y="2331720"/>
            <a:ext cx="1298448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404872"/>
            <a:ext cx="1005840" cy="457200"/>
          </a:xfrm>
          <a:prstGeom prst="rect">
            <a:avLst>
              <a:gd name="adj" fmla="val 8000"/>
            </a:avLst>
          </a:prstGeom>
          <a:solidFill>
            <a:srgbClr val="006600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608576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Portuguese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08576" y="31546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Portugal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53328" y="2331720"/>
            <a:ext cx="1298448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99632" y="2404872"/>
            <a:ext cx="1005840" cy="457200"/>
          </a:xfrm>
          <a:prstGeom prst="rect">
            <a:avLst>
              <a:gd name="adj" fmla="val 8000"/>
            </a:avLst>
          </a:prstGeom>
          <a:solidFill>
            <a:srgbClr val="DE2910"/>
          </a:solidFill>
          <a:ln/>
        </p:spPr>
      </p:sp>
      <p:sp>
        <p:nvSpPr>
          <p:cNvPr id="44" name="Text 42"/>
          <p:cNvSpPr/>
          <p:nvPr/>
        </p:nvSpPr>
        <p:spPr>
          <a:xfrm>
            <a:off x="6199632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ZH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053328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Chinese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53328" y="31546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China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98080" y="2331720"/>
            <a:ext cx="1298448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644384" y="2404872"/>
            <a:ext cx="1005840" cy="457200"/>
          </a:xfrm>
          <a:prstGeom prst="rect">
            <a:avLst>
              <a:gd name="adj" fmla="val 8000"/>
            </a:avLst>
          </a:prstGeom>
          <a:solidFill>
            <a:srgbClr val="BC002D"/>
          </a:solidFill>
          <a:ln/>
        </p:spPr>
      </p:sp>
      <p:sp>
        <p:nvSpPr>
          <p:cNvPr id="49" name="Text 47"/>
          <p:cNvSpPr/>
          <p:nvPr/>
        </p:nvSpPr>
        <p:spPr>
          <a:xfrm>
            <a:off x="7644384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JA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498080" y="29077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Japanese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0" y="31546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Japan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547872"/>
            <a:ext cx="8595360" cy="1353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11480" y="36210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M2M100 Model Details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1148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Model: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50876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facebook/m2m100_418M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11480" y="4270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Size: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508760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418 MB (one-time download)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11480" y="4562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Languages: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508760" y="4562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100 languages supported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0916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License: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80644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MIT — free for all use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709160" y="4270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API: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806440" y="4270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get_lang_id() — simple, clean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Datasets &amp; Data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28600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822960"/>
            <a:ext cx="201168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822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182880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822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822960"/>
            <a:ext cx="164592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822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License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207008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207008"/>
            <a:ext cx="22860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ICDAR 2015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207008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207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Text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207008"/>
            <a:ext cx="1828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207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1,500 images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207008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207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Research 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591056"/>
            <a:ext cx="22860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1591056"/>
            <a:ext cx="22860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Kaggle HTR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1591056"/>
            <a:ext cx="201168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1591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Handwriting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591056"/>
            <a:ext cx="18288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15910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190,920 words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591056"/>
            <a:ext cx="16459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5910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Open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1975104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1975104"/>
            <a:ext cx="22860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COCO-Text v2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1975104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1975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Scene Text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1975104"/>
            <a:ext cx="1828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63,686 images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1975104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19751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CC BY 4.0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359152"/>
            <a:ext cx="22860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2359152"/>
            <a:ext cx="22860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TRDG Synthetic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0" y="2359152"/>
            <a:ext cx="201168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0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OCR Augmentation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2359152"/>
            <a:ext cx="182880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2359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9,000 images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2359152"/>
            <a:ext cx="16459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23591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MIT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743200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M2M100 (Meta)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0" y="2743200"/>
            <a:ext cx="20116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0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Translation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2743200"/>
            <a:ext cx="1828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0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100 languages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2743200"/>
            <a:ext cx="1645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2743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MIT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3291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Data Processing Pipeline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27432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SHA-256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Verification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78308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514600" y="3749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8" name="Text 56"/>
          <p:cNvSpPr/>
          <p:nvPr/>
        </p:nvSpPr>
        <p:spPr>
          <a:xfrm>
            <a:off x="25146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201168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Format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Conversion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52044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51960" y="3749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2" name="Text 60"/>
          <p:cNvSpPr/>
          <p:nvPr/>
        </p:nvSpPr>
        <p:spPr>
          <a:xfrm>
            <a:off x="42519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74904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Stratified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Split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25780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989320" y="3749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6" name="Text 64"/>
          <p:cNvSpPr/>
          <p:nvPr/>
        </p:nvSpPr>
        <p:spPr>
          <a:xfrm>
            <a:off x="59893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48640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Augmentation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3-Tier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99516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726680" y="3749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0" name="Text 68"/>
          <p:cNvSpPr/>
          <p:nvPr/>
        </p:nvSpPr>
        <p:spPr>
          <a:xfrm>
            <a:off x="7726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22376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ONNX / M2M100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Export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2 — Text Detection: YOLOv8-nano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72768" y="822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YOLOv8-nano (anchor-free, CIoU loss)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420624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984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2984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ICDAR 2015 (1,200 train / 95 val / 496 test)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73936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7739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Split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17739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Stratified by box-density quintile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114800" cy="420624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2494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Augmentation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2494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Mosaic + MixUp + CopyPaste; flipLR=0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7249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27249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DetEval (Wolf &amp; Jolion 2006), IoU ≥ 0.50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4114800" cy="420624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2004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Export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2004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ONNX opset 17 + dynamic INT-8 quantisation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206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22960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DetEval Results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Precision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1463040"/>
            <a:ext cx="1645920" cy="292608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463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0.549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1892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Recall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0" y="1938528"/>
            <a:ext cx="1645920" cy="292608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1938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0.734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54880" y="23682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F1 Score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2414016"/>
            <a:ext cx="1645920" cy="292608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414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0.628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3440" y="3154680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ONNX Latency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FP32:  59.6 ms/image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INT-8: 242.0 ms  (dynamic quant — CPU overhead)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Key fix: flipLR=0.0 — text orientation must be preserved for downstream OCR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Steps 3 &amp; 4 — OCR, HTR &amp; Router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Step 3: Printed OCR (CRNN-CTC)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Architecture: VGG-CNN + 2-layer BiLSTM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550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Loss: CTC (blank @ index 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Data: 5,000 TRDG synthetic words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1343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Greedy CER: 7.57%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426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Beam CER: 4.56%  [CI: 3.6, 5.6]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Latency: 5.0 ms/image (CPU)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3009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Export: ONNX opset 18, dynamic axes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2062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22960"/>
            <a:ext cx="42062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Step 4: HTR + Router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32588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HTR: ResConvBlock×6 + Transformer + BiLSTM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65506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Router: MobileNetV3-Small binary classifier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9842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Dataset: Kaggle HTR (10K subsampled)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31343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Training: 10 epochs, batch 128, ~15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64261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Router latency: &lt; 10ms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9718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Threshold: F1-optimised on val set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30098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Export: PyTorch → ONNX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1628"/>
                </a:solidFill>
              </a:rPr>
              <a:t>Challenges Encountered &amp; Fixes Applied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" y="777240"/>
            <a:ext cx="777240" cy="621792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77724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804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⚠  TRDG CLI generates 0 images silently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Replaced subprocess CLI with Python API (GeneratorFromDict / GeneratorFromStrings)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81328"/>
            <a:ext cx="54864" cy="62179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" y="1481328"/>
            <a:ext cx="777240" cy="621792"/>
          </a:xfrm>
          <a:prstGeom prst="rect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" y="148132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Step 4.3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15087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⚠  IAM dataset requires registration — download fails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88720" y="180136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Integrated Kaggle HTR dataset (190K samples) with auto-detecting CSV loader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85416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85416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" y="2185416"/>
            <a:ext cx="777240" cy="621792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18541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Step 4.7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22128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⚠  Training estimated 27 hours on 190K samples × 60 epochs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88720" y="25054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Subsampled to 10K train / 1K val, 10 epochs, batch 128, simpler model → ~15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89504"/>
            <a:ext cx="54864" cy="6217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" y="2889504"/>
            <a:ext cx="777240" cy="621792"/>
          </a:xfrm>
          <a:prstGeom prst="rect">
            <a:avLst/>
          </a:prstGeom>
          <a:solidFill>
            <a:srgbClr val="0A1628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" y="288950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Step 4.7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9169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⚠  No output for 5+ hours — prints only every 10 epochs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88720" y="32095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Added per-batch progress every 20 batches, epoch ETA, timing estimate before training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93592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93592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" y="3593592"/>
            <a:ext cx="777240" cy="621792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359359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Step 5.1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362102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⚠  get_linear_schedule_with_warmup from wrong module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88720" y="391363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Moved to transformers import — it is a HuggingFace function, not PyTorch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97680"/>
            <a:ext cx="8595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297680"/>
            <a:ext cx="54864" cy="62179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6" name="Shape 34"/>
          <p:cNvSpPr/>
          <p:nvPr/>
        </p:nvSpPr>
        <p:spPr>
          <a:xfrm>
            <a:off x="329184" y="4297680"/>
            <a:ext cx="777240" cy="621792"/>
          </a:xfrm>
          <a:prstGeom prst="rect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" y="429768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Step 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43251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⚠  Helsinki-NLP models failed for Japanese, Chinese, Portuguese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88720" y="46177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Replaced with facebook/m2m100_418M — single 418MB model, 100 languages, MIT license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&amp; Performance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All modules trained, exported and benchmarked on Colab T4 GPU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41732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07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Printed OCR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Beam CER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4.56%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8F0"/>
                </a:solidFill>
              </a:rPr>
              <a:t>95% CI [3.6, 5.6]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143000"/>
            <a:ext cx="1920240" cy="1417320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207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Text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50592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0.628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8F0"/>
                </a:solidFill>
              </a:rPr>
              <a:t>IoU ≥ 0.50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143000"/>
            <a:ext cx="1920240" cy="141732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207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CRNN ONNX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6864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5.0ms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8F0"/>
                </a:solidFill>
              </a:rPr>
              <a:t>CPU / image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143000"/>
            <a:ext cx="1920240" cy="1417320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2070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03136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&lt;200ms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03136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2E8F0"/>
                </a:solidFill>
              </a:rPr>
              <a:t>Mobile CPU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Component Summary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210312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154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YOLOv8-nano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23160" y="3154680"/>
            <a:ext cx="210312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3154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ONNX opset 17 + INT-8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154680"/>
            <a:ext cx="169164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1546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59.6 ms (FP32)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154680"/>
            <a:ext cx="237744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154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Text detection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483864"/>
            <a:ext cx="2103120" cy="3108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483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CRNN-CTC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23160" y="3483864"/>
            <a:ext cx="2103120" cy="3108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3483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ONNX opset 18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3483864"/>
            <a:ext cx="1691640" cy="3108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348386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5.0 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483864"/>
            <a:ext cx="2377440" cy="3108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4838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Printed OCR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813048"/>
            <a:ext cx="210312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3813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CRNN-Attn HTR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23160" y="3813048"/>
            <a:ext cx="210312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40" name="Text 38"/>
          <p:cNvSpPr/>
          <p:nvPr/>
        </p:nvSpPr>
        <p:spPr>
          <a:xfrm>
            <a:off x="2468880" y="38130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PyTorch → ONNX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3813048"/>
            <a:ext cx="169164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3813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~10 ms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3813048"/>
            <a:ext cx="237744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38130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Handwriting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142232"/>
            <a:ext cx="2103120" cy="3108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1422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MobileNetV3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23160" y="4142232"/>
            <a:ext cx="2103120" cy="3108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48" name="Text 46"/>
          <p:cNvSpPr/>
          <p:nvPr/>
        </p:nvSpPr>
        <p:spPr>
          <a:xfrm>
            <a:off x="2468880" y="41422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PyTorch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4142232"/>
            <a:ext cx="1691640" cy="3108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50" name="Text 48"/>
          <p:cNvSpPr/>
          <p:nvPr/>
        </p:nvSpPr>
        <p:spPr>
          <a:xfrm>
            <a:off x="4617720" y="41422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&lt; 10 ms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4142232"/>
            <a:ext cx="2377440" cy="310896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41422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Print/HW router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471416"/>
            <a:ext cx="210312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44714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M2M100 418M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23160" y="4471416"/>
            <a:ext cx="210312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56" name="Text 54"/>
          <p:cNvSpPr/>
          <p:nvPr/>
        </p:nvSpPr>
        <p:spPr>
          <a:xfrm>
            <a:off x="2468880" y="44714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facebook/m2m100_418M · MIT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0" y="4471416"/>
            <a:ext cx="169164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58" name="Text 56"/>
          <p:cNvSpPr/>
          <p:nvPr/>
        </p:nvSpPr>
        <p:spPr>
          <a:xfrm>
            <a:off x="4617720" y="44714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~30 ms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09360" y="4471416"/>
            <a:ext cx="2377440" cy="310896"/>
          </a:xfrm>
          <a:prstGeom prst="rect">
            <a:avLst/>
          </a:prstGeom>
          <a:solidFill>
            <a:srgbClr val="1A2B42"/>
          </a:solidFill>
          <a:ln/>
        </p:spPr>
      </p:sp>
      <p:sp>
        <p:nvSpPr>
          <p:cNvPr id="60" name="Text 58"/>
          <p:cNvSpPr/>
          <p:nvPr/>
        </p:nvSpPr>
        <p:spPr>
          <a:xfrm>
            <a:off x="6355080" y="4471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Translation × 6 langs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 &amp;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Single Image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Upload any sign, menu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or street 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🎥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0592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Video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Scan 1 frame/sec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translate full batch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26864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Raw 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Test translation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directly without image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8229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03136" y="15361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Synthetic Test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upload needed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confirm pipeline works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Full Step 6 Pipeline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" y="3246120"/>
            <a:ext cx="1280160" cy="77724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" y="3246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36192" y="3447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37360" y="3246120"/>
            <a:ext cx="1280160" cy="7772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3246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EasyOCR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3447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18688" y="3246120"/>
            <a:ext cx="128016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18688" y="3246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langdetect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Auto-ID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98848" y="3447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0016" y="3246120"/>
            <a:ext cx="1280160" cy="777240"/>
          </a:xfrm>
          <a:prstGeom prst="rect">
            <a:avLst/>
          </a:prstGeom>
          <a:solidFill>
            <a:srgbClr val="F43F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0016" y="3246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 OCR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Scripts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0176" y="3447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81344" y="3246120"/>
            <a:ext cx="1280160" cy="77724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81344" y="3246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M2M100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Translate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61504" y="34472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62672" y="3246120"/>
            <a:ext cx="1280160" cy="7772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62672" y="32461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Supported: Spanish · French · German · Portuguese · Chinese · Japanese → English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Auto-detects language from image — no manual language selection needed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AI Tools &amp; Development Process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" y="822960"/>
            <a:ext cx="1645920" cy="71323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595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Claude (Anthropic)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Primary AI assistant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95097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Debugging, code fixes, architecture decisions, submission materials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27632"/>
            <a:ext cx="54864" cy="7132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" y="1627632"/>
            <a:ext cx="1645920" cy="713232"/>
          </a:xfrm>
          <a:prstGeom prst="rect">
            <a:avLst/>
          </a:prstGeom>
          <a:solidFill>
            <a:srgbClr val="F43F5E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642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3F5E"/>
                </a:solidFill>
              </a:rPr>
              <a:t>EasyOCR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Text extraction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57400" y="17556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Multi-language OCR replacing broken CRNN pipeline for real-world images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32304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" y="2432304"/>
            <a:ext cx="1645920" cy="71323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M2M100 (Meta)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2816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Translation engine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57400" y="25603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Replaced Helsinki-NLP; handles Japanese, Chinese, Portuguese correctly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3697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36976"/>
            <a:ext cx="54864" cy="7132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" y="3236976"/>
            <a:ext cx="1645920" cy="713232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2735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langdetect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6210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Language identification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57400" y="33649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Auto-detects source language from extracted text — no manual selection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41648"/>
            <a:ext cx="54864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" y="4041648"/>
            <a:ext cx="1645920" cy="713232"/>
          </a:xfrm>
          <a:prstGeom prst="rect">
            <a:avLst/>
          </a:prstGeom>
          <a:solidFill>
            <a:srgbClr val="0A1628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0782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YOLOv8 (Ultralytics)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44256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Text detection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57400" y="416966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Fine-tuned on ICDAR 2015; exported to ONNX for offline use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What We Built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✓  Complete detect → route → OCR → auto-detect → translate pipeline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✓  6 language pairs — auto-detected, no manual selection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✓  M2M100: Japanese, Chinese, Portuguese now working correctly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✓  Offline-capable: all models ONNX / M2M100 exported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✓  &lt; 200ms end-to-end target on mobile CPU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✓  EasyOCR integration for robust real-world text extraction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✓  All 5 steps + Step 6 translation trained &amp; deployed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On-device deployment: Android / iOS via ONNX Runtime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Expand to 20+ languages with M2M100 full model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Real-time video with frame-skip optimization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CJK-specific OCR head (vocab ≥ 2,000 characters)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2423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Active learning with user corrections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→  Benchmark on real travel scene datasets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32104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Key References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673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Shi et al. (2017) CRNN · Graves et al. (2006) CTC · Jocher et al. (2023) YOLOv8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Fan et al. (2020) M2M100 · Kang et al. (2022) CRNN-Attention HTR · Howard et al. (2019) MobileNetV3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Junczys-Dowmunt et al. (2018) MarianMT · Papineni et al. (2002) BLEU · Marti &amp; Bunke (2002) IAM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LenguaMaster — ITAI 1378  ·  Min Ma Kha  ·  2026-05-04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LenguaMaster — Visual Translation &amp; Edge AI for Travelers</dc:title>
  <dc:subject>PptxGenJS Presentation</dc:subject>
  <dc:creator>Min Ma Kha</dc:creator>
  <cp:lastModifiedBy>Min Ma Kha</cp:lastModifiedBy>
  <cp:revision>1</cp:revision>
  <dcterms:created xsi:type="dcterms:W3CDTF">2026-05-09T00:46:34Z</dcterms:created>
  <dcterms:modified xsi:type="dcterms:W3CDTF">2026-05-09T00:46:34Z</dcterms:modified>
</cp:coreProperties>
</file>